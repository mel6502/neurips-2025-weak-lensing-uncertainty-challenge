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59" r:id="rId7"/>
    <p:sldId id="262" r:id="rId8"/>
    <p:sldId id="265" r:id="rId9"/>
    <p:sldId id="263" r:id="rId10"/>
    <p:sldId id="260" r:id="rId11"/>
    <p:sldId id="264" r:id="rId12"/>
    <p:sldId id="261" r:id="rId13"/>
  </p:sldIdLst>
  <p:sldSz cx="12192000" cy="6858000"/>
  <p:notesSz cx="6858000" cy="9144000"/>
  <p:embeddedFontLst>
    <p:embeddedFont>
      <p:font typeface="Calibri Light" panose="020F0302020204030204" charset="0"/>
      <p:regular r:id="rId17"/>
      <p:italic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199" autoAdjust="0"/>
  </p:normalViewPr>
  <p:slideViewPr>
    <p:cSldViewPr snapToGrid="0">
      <p:cViewPr varScale="1">
        <p:scale>
          <a:sx n="61" d="100"/>
          <a:sy n="61" d="100"/>
        </p:scale>
        <p:origin x="3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6CB5F-AB26-4757-931D-D25281A985B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Our project is participation</a:t>
            </a:r>
            <a:r>
              <a:rPr lang="en-US" baseline="0" dirty="0" smtClean="0"/>
              <a:t> in the Weak Lensing Uncertainty Challenge conducted by FAIR Universe. Although neither of us hold degree in astrophysics, it doesn’t mean that we can’t apply machine learning in this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Basically gravitational lensing is a distortion of light path by massive objects,</a:t>
            </a:r>
            <a:r>
              <a:rPr lang="en-US" baseline="0" dirty="0" smtClean="0"/>
              <a:t> that are located between observer and an object of interest. As a result the form and position of the cosmic object are quite different for the observer (see left picture – initially red spherical object appears to an observer as a red light ring, such rings are also called Einstein rings).</a:t>
            </a:r>
            <a:endParaRPr lang="en-US" baseline="0" dirty="0" smtClean="0"/>
          </a:p>
          <a:p>
            <a:r>
              <a:rPr lang="en-US" dirty="0" smtClean="0"/>
              <a:t>Meanwhile weak gravitational lensing is the same</a:t>
            </a:r>
            <a:r>
              <a:rPr lang="en-US" baseline="0" dirty="0" smtClean="0"/>
              <a:t> effect but on a smaller scale, which </a:t>
            </a:r>
            <a:r>
              <a:rPr lang="en-US" dirty="0" smtClean="0"/>
              <a:t>reveals in slight distortions in the shapes of distant background galaxies</a:t>
            </a:r>
            <a:r>
              <a:rPr lang="en-US" baseline="0" dirty="0" smtClean="0"/>
              <a:t> (see right picture – circles appear to an observer as ellipses)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Studying these distortions allows researchers to probe how matter is distributed in the Universe and to better understand the model that governs its expansion.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The</a:t>
            </a:r>
            <a:r>
              <a:rPr lang="en-US" baseline="0" dirty="0" smtClean="0"/>
              <a:t> task is to u</a:t>
            </a:r>
            <a:r>
              <a:rPr lang="en-US" dirty="0" smtClean="0"/>
              <a:t>se weak-lensing map of size 1274×176 to predict two scalar cosmological parameters: 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Ωm - fraction of the matter energy density in the Universe;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S8 - amplitude of matter fluctuations.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Because the maps contain noise, the model must also provide an uncertainty (one-standard-deviation) estimation for each parameter: σΩm, σS8. Charts</a:t>
            </a:r>
            <a:r>
              <a:rPr lang="en-US" baseline="0" dirty="0" smtClean="0"/>
              <a:t> on the right part show how the predictions usually look like.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There are 25856 sample maps available with given labels,</a:t>
            </a:r>
            <a:r>
              <a:rPr lang="en-US" baseline="0" dirty="0" smtClean="0"/>
              <a:t> so we can say that this is basically supervised-learning task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Competition organizers</a:t>
            </a:r>
            <a:r>
              <a:rPr lang="en-US" baseline="0" dirty="0" smtClean="0"/>
              <a:t> </a:t>
            </a:r>
            <a:r>
              <a:rPr lang="en-US" dirty="0" smtClean="0"/>
              <a:t>provide baseline (starter-kit),</a:t>
            </a:r>
            <a:r>
              <a:rPr lang="en-US" baseline="0" dirty="0" smtClean="0"/>
              <a:t> which employs </a:t>
            </a:r>
            <a:r>
              <a:rPr lang="en-US" dirty="0" smtClean="0"/>
              <a:t>CNN to solve this problem. The exact architecture is provided</a:t>
            </a:r>
            <a:r>
              <a:rPr lang="en-US" baseline="0" dirty="0" smtClean="0"/>
              <a:t> on </a:t>
            </a:r>
            <a:r>
              <a:rPr lang="en-US" baseline="0" dirty="0" err="1" smtClean="0"/>
              <a:t>theright</a:t>
            </a:r>
            <a:r>
              <a:rPr lang="en-US" baseline="0" dirty="0" smtClean="0"/>
              <a:t> part of the slide. To evaluate the results the scoring metric is used.</a:t>
            </a:r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aseline="0" dirty="0" smtClean="0"/>
              <a:t>So basically we need to use this architecture as a reference and come up with something more suitable for this case to make the scoring metric higher (closer to 0) as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en-US" dirty="0"/>
              <a:t>Denario paper introduced recently after we started our project it is presented as an independant multiagentic system which serves scientific researcher </a:t>
            </a:r>
            <a:endParaRPr lang="fr-FR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en-US" dirty="0"/>
              <a:t>It is presented as capable of  acting in fields as astrophysics so it was natural to try to compare its performance</a:t>
            </a:r>
            <a:endParaRPr lang="fr-FR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en-US" dirty="0"/>
              <a:t>Reason interested because aim to see its perf</a:t>
            </a:r>
            <a:endParaRPr lang="fr-F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en-US" dirty="0"/>
              <a:t>We gave Denario a prompt describing the task, the baseline model and a small sample dataset of weak lensing maps</a:t>
            </a:r>
            <a:endParaRPr lang="fr-FR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en-US" dirty="0"/>
              <a:t>What kinf of change it brought</a:t>
            </a:r>
            <a:endParaRPr lang="fr-F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80661-0733-45BE-8A64-E88252E89C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7AFBF-2DEE-4D75-8FAC-542D316F36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A87F5-1015-486D-9D41-E88299C5F8E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555531"/>
            <a:ext cx="12192000" cy="1756237"/>
          </a:xfrm>
        </p:spPr>
        <p:txBody>
          <a:bodyPr>
            <a:normAutofit/>
          </a:bodyPr>
          <a:lstStyle/>
          <a:p>
            <a:r>
              <a:rPr lang="en-US" dirty="0" smtClean="0"/>
              <a:t>Participation in Weak </a:t>
            </a:r>
            <a:r>
              <a:rPr lang="en-US" dirty="0" smtClean="0"/>
              <a:t>Lensing Uncertainty Challenge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395545"/>
            <a:ext cx="12191999" cy="462455"/>
          </a:xfrm>
        </p:spPr>
        <p:txBody>
          <a:bodyPr/>
          <a:lstStyle/>
          <a:p>
            <a:r>
              <a:rPr lang="en-US" dirty="0" smtClean="0"/>
              <a:t>Mikhail Kuvakin, Melvyn Kui</a:t>
            </a:r>
            <a:endParaRPr lang="en-US" dirty="0"/>
          </a:p>
        </p:txBody>
      </p:sp>
      <p:sp>
        <p:nvSpPr>
          <p:cNvPr id="4" name="Subtitle 2"/>
          <p:cNvSpPr txBox="1"/>
          <p:nvPr/>
        </p:nvSpPr>
        <p:spPr>
          <a:xfrm>
            <a:off x="1" y="3569922"/>
            <a:ext cx="12192000" cy="458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(ML Course Fall 2025 Project)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" y="1618112"/>
            <a:ext cx="7593723" cy="90194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Gravitational lensing: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154"/>
            <a:ext cx="7596553" cy="47478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62041" y="139561"/>
            <a:ext cx="45299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/>
              <a:t>Weak gravitational lensing: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041" y="662781"/>
            <a:ext cx="4461641" cy="24450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112" y="3251646"/>
            <a:ext cx="3467498" cy="3543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0085"/>
            <a:ext cx="12192000" cy="86995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 smtClean="0"/>
              <a:t>Input: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smtClean="0"/>
              <a:t>intensity map (1274×176)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325563"/>
            <a:ext cx="12192000" cy="1715380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2217680" y="3115142"/>
            <a:ext cx="914400" cy="102537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/>
          <p:nvPr/>
        </p:nvSpPr>
        <p:spPr>
          <a:xfrm>
            <a:off x="126250" y="4214718"/>
            <a:ext cx="5115037" cy="495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smtClean="0"/>
              <a:t>Output: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75" y="4596752"/>
            <a:ext cx="5097261" cy="971814"/>
          </a:xfrm>
          <a:prstGeom prst="rect">
            <a:avLst/>
          </a:prstGeom>
        </p:spPr>
      </p:pic>
      <p:cxnSp>
        <p:nvCxnSpPr>
          <p:cNvPr id="15" name="Straight Arrow Connector 14"/>
          <p:cNvCxnSpPr>
            <a:stCxn id="12" idx="3"/>
          </p:cNvCxnSpPr>
          <p:nvPr/>
        </p:nvCxnSpPr>
        <p:spPr>
          <a:xfrm flipV="1">
            <a:off x="5286636" y="4366506"/>
            <a:ext cx="645825" cy="71615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372" y="3030915"/>
            <a:ext cx="3015528" cy="242518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812" y="3030758"/>
            <a:ext cx="3090186" cy="24253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926" y="5456101"/>
            <a:ext cx="4164003" cy="1401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772" y="-1829254"/>
            <a:ext cx="8597462" cy="86872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Baseline Method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Solution by </a:t>
            </a:r>
            <a:r>
              <a:rPr lang="en-US" dirty="0" err="1" smtClean="0"/>
              <a:t>Denario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811" y="1325563"/>
            <a:ext cx="6169189" cy="5532437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11" y="1646651"/>
            <a:ext cx="5892800" cy="45178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563"/>
            <a:ext cx="8954814" cy="476857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Solution by </a:t>
            </a:r>
            <a:r>
              <a:rPr lang="en-US" dirty="0" err="1" smtClean="0"/>
              <a:t>Denario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20235" y="1797270"/>
            <a:ext cx="33717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solve our problem </a:t>
            </a:r>
            <a:r>
              <a:rPr lang="en-US" dirty="0" err="1" smtClean="0"/>
              <a:t>Denario</a:t>
            </a:r>
            <a:r>
              <a:rPr lang="en-US" dirty="0" smtClean="0"/>
              <a:t>: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Acted absolutely independently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Used </a:t>
            </a:r>
            <a:r>
              <a:rPr lang="en-US" dirty="0"/>
              <a:t>multiple GPT-5 models for research and engineering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Had </a:t>
            </a:r>
            <a:r>
              <a:rPr lang="en-US" dirty="0"/>
              <a:t>access to data and coding environment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Spend </a:t>
            </a:r>
            <a:r>
              <a:rPr lang="en-US" dirty="0"/>
              <a:t>more that 1 hour and 4.43$ to produce the solution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37" y="-9806"/>
            <a:ext cx="11493063" cy="68678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Ours Method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Key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5324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1354" y="1450608"/>
            <a:ext cx="1150424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Parameter </a:t>
            </a:r>
            <a:r>
              <a:rPr lang="en-US" b="1" dirty="0" smtClean="0"/>
              <a:t>Reduction</a:t>
            </a:r>
            <a:r>
              <a:rPr lang="en-US" dirty="0" smtClean="0"/>
              <a:t>: </a:t>
            </a:r>
            <a:endParaRPr lang="en-US" dirty="0" smtClean="0"/>
          </a:p>
          <a:p>
            <a:r>
              <a:rPr lang="en-US" dirty="0"/>
              <a:t>I</a:t>
            </a:r>
            <a:r>
              <a:rPr lang="en-US" dirty="0" smtClean="0"/>
              <a:t>nitial </a:t>
            </a:r>
            <a:r>
              <a:rPr lang="en-US" dirty="0"/>
              <a:t>model was far too large </a:t>
            </a:r>
            <a:r>
              <a:rPr lang="en-US" dirty="0" smtClean="0"/>
              <a:t>(</a:t>
            </a:r>
            <a:r>
              <a:rPr lang="en-US" b="1" dirty="0" smtClean="0"/>
              <a:t>&gt;14M </a:t>
            </a:r>
            <a:r>
              <a:rPr lang="en-US" b="1" dirty="0"/>
              <a:t>parameters</a:t>
            </a:r>
            <a:r>
              <a:rPr lang="en-US" dirty="0"/>
              <a:t> for </a:t>
            </a:r>
            <a:r>
              <a:rPr lang="en-US" b="1" dirty="0"/>
              <a:t>20K samples</a:t>
            </a:r>
            <a:r>
              <a:rPr lang="en-US" dirty="0"/>
              <a:t>), creating a major </a:t>
            </a:r>
            <a:r>
              <a:rPr lang="en-US" dirty="0" smtClean="0"/>
              <a:t>overfitting </a:t>
            </a:r>
            <a:r>
              <a:rPr lang="en-US" dirty="0"/>
              <a:t>risk. </a:t>
            </a:r>
            <a:r>
              <a:rPr lang="en-US" dirty="0" smtClean="0"/>
              <a:t>With</a:t>
            </a:r>
            <a:r>
              <a:rPr lang="en-US" dirty="0"/>
              <a:t> adaptive pooling </a:t>
            </a:r>
            <a:r>
              <a:rPr lang="en-US" dirty="0" smtClean="0"/>
              <a:t>bottleneck between convolutional part and regressor head, </a:t>
            </a:r>
            <a:r>
              <a:rPr lang="en-US" dirty="0"/>
              <a:t>we compressed the feature map and slashed parameters </a:t>
            </a:r>
            <a:r>
              <a:rPr lang="en-US" dirty="0" smtClean="0"/>
              <a:t>to </a:t>
            </a:r>
            <a:r>
              <a:rPr lang="en-US" b="1" dirty="0"/>
              <a:t>~</a:t>
            </a:r>
            <a:r>
              <a:rPr lang="en-US" b="1" dirty="0" smtClean="0"/>
              <a:t>2M</a:t>
            </a:r>
            <a:r>
              <a:rPr lang="en-US" dirty="0" smtClean="0"/>
              <a:t>, </a:t>
            </a:r>
            <a:r>
              <a:rPr lang="en-US" dirty="0"/>
              <a:t>dramatically improving generalization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Anisotropic Filtering </a:t>
            </a:r>
            <a:r>
              <a:rPr lang="en-US" b="1" dirty="0" smtClean="0"/>
              <a:t>and </a:t>
            </a:r>
            <a:r>
              <a:rPr lang="en-US" b="1" dirty="0"/>
              <a:t>Feature Extraction: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designed three custom enhancements for the unique </a:t>
            </a:r>
            <a:r>
              <a:rPr lang="en-US" dirty="0" smtClean="0"/>
              <a:t>specifics </a:t>
            </a:r>
            <a:r>
              <a:rPr lang="en-US" dirty="0"/>
              <a:t>of our weak-lensing maps: </a:t>
            </a:r>
            <a:r>
              <a:rPr lang="en-US" b="1" dirty="0"/>
              <a:t>Rectangular Kernels</a:t>
            </a:r>
            <a:r>
              <a:rPr lang="en-US" dirty="0"/>
              <a:t> to efficiently process the </a:t>
            </a:r>
            <a:r>
              <a:rPr lang="en-US" dirty="0" smtClean="0"/>
              <a:t>unusual </a:t>
            </a:r>
            <a:r>
              <a:rPr lang="en-US" dirty="0"/>
              <a:t>aspect ratio; </a:t>
            </a:r>
            <a:r>
              <a:rPr lang="en-US" b="1" dirty="0"/>
              <a:t>Dual Pooling</a:t>
            </a:r>
            <a:r>
              <a:rPr lang="en-US" dirty="0"/>
              <a:t> to capture both sharp peaks and background texture; and a </a:t>
            </a:r>
            <a:r>
              <a:rPr lang="en-US" b="1" dirty="0"/>
              <a:t>Spatial Attention</a:t>
            </a:r>
            <a:r>
              <a:rPr lang="en-US" dirty="0"/>
              <a:t> module to actively focus on informative regions and suppress noise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Activation </a:t>
            </a:r>
            <a:r>
              <a:rPr lang="en-US" b="1" dirty="0" smtClean="0"/>
              <a:t>Functions: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/>
              <a:t>U</a:t>
            </a:r>
            <a:r>
              <a:rPr lang="en-US" dirty="0" smtClean="0"/>
              <a:t>pdated activation </a:t>
            </a:r>
            <a:r>
              <a:rPr lang="en-US" dirty="0"/>
              <a:t>functions for better training: </a:t>
            </a:r>
            <a:r>
              <a:rPr lang="en-US" b="1" dirty="0" err="1"/>
              <a:t>SiLU</a:t>
            </a:r>
            <a:r>
              <a:rPr lang="en-US" b="1" dirty="0"/>
              <a:t> activation</a:t>
            </a:r>
            <a:r>
              <a:rPr lang="en-US" dirty="0"/>
              <a:t> in the convolutions </a:t>
            </a:r>
            <a:r>
              <a:rPr lang="en-US" dirty="0" smtClean="0"/>
              <a:t>tends to give better performance for CNNs, </a:t>
            </a:r>
            <a:r>
              <a:rPr lang="en-US" b="1" dirty="0" err="1" smtClean="0"/>
              <a:t>Softplus</a:t>
            </a:r>
            <a:r>
              <a:rPr lang="en-US" dirty="0"/>
              <a:t> for uncertainty </a:t>
            </a:r>
            <a:r>
              <a:rPr lang="en-US" dirty="0" smtClean="0"/>
              <a:t>estimation provides </a:t>
            </a:r>
            <a:r>
              <a:rPr lang="en-US" dirty="0"/>
              <a:t>more stable and accurate predictions for small </a:t>
            </a:r>
            <a:r>
              <a:rPr lang="en-US" dirty="0" smtClean="0"/>
              <a:t>values.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Objective Function Alignment: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Instead </a:t>
            </a:r>
            <a:r>
              <a:rPr lang="en-US" dirty="0"/>
              <a:t>of using a loss that only partially resembled the final score, we reformulated it to be </a:t>
            </a:r>
            <a:r>
              <a:rPr lang="en-US" dirty="0" smtClean="0"/>
              <a:t>exactly same as our </a:t>
            </a:r>
            <a:r>
              <a:rPr lang="en-US" dirty="0"/>
              <a:t>target evaluation metric</a:t>
            </a:r>
            <a:r>
              <a:rPr lang="en-US" dirty="0" smtClean="0"/>
              <a:t>, </a:t>
            </a:r>
            <a:r>
              <a:rPr lang="en-US" dirty="0"/>
              <a:t>ensuring the model is trained to directly optimize for the metric we care about.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5324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96" y="1705410"/>
            <a:ext cx="8744608" cy="47727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079" y="13752"/>
            <a:ext cx="4641921" cy="156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754" y="5288340"/>
            <a:ext cx="118324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Weak </a:t>
            </a:r>
            <a:r>
              <a:rPr lang="en-US" sz="2400" dirty="0"/>
              <a:t>Lensing Uncertainty </a:t>
            </a:r>
            <a:r>
              <a:rPr lang="en-US" sz="2400" dirty="0" smtClean="0"/>
              <a:t>Challenge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00B0F0"/>
                </a:solidFill>
              </a:rPr>
              <a:t>https://</a:t>
            </a:r>
            <a:r>
              <a:rPr lang="en-US" sz="2400" dirty="0" smtClean="0">
                <a:solidFill>
                  <a:srgbClr val="00B0F0"/>
                </a:solidFill>
              </a:rPr>
              <a:t>www.codabench.org/competitions/8934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r>
              <a:rPr lang="en-US" sz="2400" dirty="0" err="1" smtClean="0"/>
              <a:t>Denario</a:t>
            </a:r>
            <a:r>
              <a:rPr lang="en-US" sz="2400" dirty="0" smtClean="0"/>
              <a:t> paper: </a:t>
            </a:r>
            <a:r>
              <a:rPr lang="en-US" sz="2400" dirty="0" smtClean="0">
                <a:solidFill>
                  <a:srgbClr val="00B0F0"/>
                </a:solidFill>
              </a:rPr>
              <a:t>arxiv.org/abs/2510.26887</a:t>
            </a:r>
            <a:endParaRPr lang="en-US" sz="2400" dirty="0" smtClean="0">
              <a:solidFill>
                <a:srgbClr val="00B0F0"/>
              </a:solidFill>
            </a:endParaRPr>
          </a:p>
          <a:p>
            <a:r>
              <a:rPr lang="en-US" sz="2400" dirty="0" err="1" smtClean="0"/>
              <a:t>Denario</a:t>
            </a:r>
            <a:r>
              <a:rPr lang="en-US" sz="2400" dirty="0"/>
              <a:t> </a:t>
            </a:r>
            <a:r>
              <a:rPr lang="en-US" sz="2400" dirty="0"/>
              <a:t>demo deployment</a:t>
            </a:r>
            <a:r>
              <a:rPr lang="en-US" sz="2400" dirty="0" smtClean="0"/>
              <a:t>: </a:t>
            </a:r>
            <a:r>
              <a:rPr lang="en-US" sz="2400" dirty="0" smtClean="0">
                <a:solidFill>
                  <a:srgbClr val="00B0F0"/>
                </a:solidFill>
              </a:rPr>
              <a:t>huggingface.co/spaces/</a:t>
            </a:r>
            <a:r>
              <a:rPr lang="en-US" sz="2400" dirty="0" err="1" smtClean="0">
                <a:solidFill>
                  <a:srgbClr val="00B0F0"/>
                </a:solidFill>
              </a:rPr>
              <a:t>astropilot-ai</a:t>
            </a:r>
            <a:r>
              <a:rPr lang="en-US" sz="2400" dirty="0" smtClean="0">
                <a:solidFill>
                  <a:srgbClr val="00B0F0"/>
                </a:solidFill>
              </a:rPr>
              <a:t>/</a:t>
            </a:r>
            <a:r>
              <a:rPr lang="en-US" sz="2400" dirty="0" err="1" smtClean="0">
                <a:solidFill>
                  <a:srgbClr val="00B0F0"/>
                </a:solidFill>
              </a:rPr>
              <a:t>Denario</a:t>
            </a:r>
            <a:endParaRPr lang="en-US" sz="2400" dirty="0" smtClean="0">
              <a:solidFill>
                <a:srgbClr val="00B0F0"/>
              </a:solidFill>
            </a:endParaRPr>
          </a:p>
          <a:p>
            <a:r>
              <a:rPr lang="en-US" sz="2400" dirty="0" smtClean="0"/>
              <a:t>Our project </a:t>
            </a:r>
            <a:r>
              <a:rPr lang="en-US" sz="2400" dirty="0" err="1" smtClean="0"/>
              <a:t>github</a:t>
            </a:r>
            <a:r>
              <a:rPr lang="en-US" sz="2400" dirty="0"/>
              <a:t>: </a:t>
            </a:r>
            <a:r>
              <a:rPr lang="en-US" sz="2400" dirty="0" smtClean="0">
                <a:solidFill>
                  <a:srgbClr val="00B0F0"/>
                </a:solidFill>
              </a:rPr>
              <a:t>github.com/mel6502/NeurIPS-2025-Weak-Lensing-Uncertainty-Challenge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1962</Words>
  <Application>WPS Presentation</Application>
  <PresentationFormat>Widescreen</PresentationFormat>
  <Paragraphs>62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Participation in Weak Lensing Uncertainty Challenge</vt:lpstr>
      <vt:lpstr>Motivation</vt:lpstr>
      <vt:lpstr>Problem</vt:lpstr>
      <vt:lpstr>Baseline Method</vt:lpstr>
      <vt:lpstr>Solution by Denario </vt:lpstr>
      <vt:lpstr>Solution by Denario </vt:lpstr>
      <vt:lpstr>Ours Method</vt:lpstr>
      <vt:lpstr>Key improvements</vt:lpstr>
      <vt:lpstr>Results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</dc:title>
  <dc:creator>Mikhail Kuvakin</dc:creator>
  <cp:lastModifiedBy>kui_m</cp:lastModifiedBy>
  <cp:revision>38</cp:revision>
  <dcterms:created xsi:type="dcterms:W3CDTF">2025-11-10T05:09:00Z</dcterms:created>
  <dcterms:modified xsi:type="dcterms:W3CDTF">2025-12-30T11:38:55Z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B6EF2C2AE3E64977A7BAEF32517AF0F0_12</vt:lpwstr>
  </property>
  <property fmtid="{D5CDD505-2E9C-101B-9397-08002B2CF9AE}" pid="3" name="KSOProductBuildVer">
    <vt:lpwstr>1036-12.2.0.23196</vt:lpwstr>
  </property>
</Properties>
</file>